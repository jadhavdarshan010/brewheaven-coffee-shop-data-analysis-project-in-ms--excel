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73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9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28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0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94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81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71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9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6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479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952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00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154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036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384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59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D3EBA-47B0-4FD5-B84C-2A57919460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F494A1B-EAF2-499B-AC5B-ED4AA5482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4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BrewHeaven%20Dashboard%20(2).xlsx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ashboard%20Data.xlsx" TargetMode="External"/><Relationship Id="rId2" Type="http://schemas.openxmlformats.org/officeDocument/2006/relationships/hyperlink" Target="BrewHeaven%20Dashboard%20(2).xlsx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0E45-F565-40BC-BDDB-5E912A4B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1882223"/>
            <a:ext cx="10515600" cy="100695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THERE 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25EC4-8FE1-4D05-B104-73A0A59C3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4886" y="3786809"/>
            <a:ext cx="9541564" cy="10069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Darshan Jadhav. And Today I am Going To Show You My Latest Data Analysis Project In MS-Excel. So Lets See The Projects .</a:t>
            </a:r>
          </a:p>
        </p:txBody>
      </p:sp>
    </p:spTree>
    <p:extLst>
      <p:ext uri="{BB962C8B-B14F-4D97-AF65-F5344CB8AC3E}">
        <p14:creationId xmlns:p14="http://schemas.microsoft.com/office/powerpoint/2010/main" val="1915127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CCED-C179-4095-9CA2-CDB267D3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65553"/>
            <a:ext cx="9601196" cy="7273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EA203-3EE7-42DE-8FEB-ED8D5554AC47}"/>
              </a:ext>
            </a:extLst>
          </p:cNvPr>
          <p:cNvSpPr txBox="1"/>
          <p:nvPr/>
        </p:nvSpPr>
        <p:spPr>
          <a:xfrm>
            <a:off x="1398104" y="2458162"/>
            <a:ext cx="9395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1C40F-4795-4387-A154-5E91554BC70B}"/>
              </a:ext>
            </a:extLst>
          </p:cNvPr>
          <p:cNvSpPr txBox="1"/>
          <p:nvPr/>
        </p:nvSpPr>
        <p:spPr>
          <a:xfrm>
            <a:off x="1500807" y="2858272"/>
            <a:ext cx="939579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about creating a Yearly Sales Dashboard for A Coffee Shop .</a:t>
            </a:r>
          </a:p>
          <a:p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helps understand how the shop performed in sales over </a:t>
            </a:r>
            <a:r>
              <a:rPr lang="en-US" altLang="en-US" sz="1400" dirty="0">
                <a:latin typeface="Arial" panose="020B0604020202020204" pitchFamily="34" charset="0"/>
              </a:rPr>
              <a:t>a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years.</a:t>
            </a:r>
          </a:p>
          <a:p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this project, we study the Coffee Shop’s sales growth, top-performing Item’s &amp; Category, and Their Sales trends.</a:t>
            </a:r>
          </a:p>
          <a:p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goal is to turn raw data into clear insights that help in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83043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1B1A-AE1D-4AC2-B711-05D98BA0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84" y="437323"/>
            <a:ext cx="8596668" cy="104692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Agenda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D8652C-9711-47E7-A788-8EF19592FB42}"/>
              </a:ext>
            </a:extLst>
          </p:cNvPr>
          <p:cNvSpPr txBox="1">
            <a:spLocks/>
          </p:cNvSpPr>
          <p:nvPr/>
        </p:nvSpPr>
        <p:spPr>
          <a:xfrm>
            <a:off x="1494184" y="1932975"/>
            <a:ext cx="9601196" cy="3894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Have To Find In The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BA1B3C-8F30-42B7-9DB5-F8D8B5AA57CE}"/>
              </a:ext>
            </a:extLst>
          </p:cNvPr>
          <p:cNvSpPr txBox="1">
            <a:spLocks/>
          </p:cNvSpPr>
          <p:nvPr/>
        </p:nvSpPr>
        <p:spPr>
          <a:xfrm>
            <a:off x="1272209" y="2425148"/>
            <a:ext cx="9730406" cy="356483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. Overall Performance -</a:t>
            </a: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What Was The Total Annual Revenue And Total Cup's Sold in 2025</a:t>
            </a:r>
            <a:r>
              <a:rPr lang="en-US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How Has The Monthly Sales Trend Been</a:t>
            </a:r>
            <a:r>
              <a:rPr lang="en-US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(MONTHLY ITEM PURCHES)</a:t>
            </a:r>
          </a:p>
          <a:p>
            <a:pPr lvl="1" algn="l"/>
            <a:r>
              <a:rPr lang="en-US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Which Month Brought The Highest And The Lowest Sales ?</a:t>
            </a:r>
          </a:p>
          <a:p>
            <a:pPr lvl="1" algn="l"/>
            <a:endParaRPr lang="en-US" sz="14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ln>
                  <a:noFill/>
                </a:ln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. </a:t>
            </a:r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Branch</a:t>
            </a: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Region Analysis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endParaRPr lang="en-US" sz="1400" dirty="0">
              <a:solidFill>
                <a:srgbClr val="92D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Which Branch Earned</a:t>
            </a: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Highest Total Revenue This year? (Branch Wise Sales )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Which Region Contributed Most To The Total Sales</a:t>
            </a: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? (region Wise Sales (amount)) 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Tx/>
              <a:buChar char="-"/>
            </a:pP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Branches With Declined Sales Trends that needs Attention ?</a:t>
            </a:r>
          </a:p>
          <a:p>
            <a:pPr marL="628650" lvl="1" indent="-171450">
              <a:buFontTx/>
              <a:buChar char="-"/>
            </a:pPr>
            <a:endParaRPr lang="en-US" sz="1400" baseline="0" dirty="0">
              <a:solidFill>
                <a:schemeClr val="dk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ln>
                  <a:noFill/>
                </a:ln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. </a:t>
            </a:r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 And Category Insights </a:t>
            </a: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Which Product Brought The Most Revenue </a:t>
            </a: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lvl="1"/>
            <a:r>
              <a:rPr lang="en-US" sz="14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What Are The Top 5 Best Selling Items By revenue</a:t>
            </a:r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By Quantity Sold ? </a:t>
            </a:r>
          </a:p>
          <a:p>
            <a:pPr lvl="1"/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Which Product Category Performed best</a:t>
            </a:r>
          </a:p>
          <a:p>
            <a:pPr marL="742950" lvl="1" indent="-285750">
              <a:buFontTx/>
              <a:buChar char="-"/>
            </a:pPr>
            <a:endParaRPr lang="en-US" baseline="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lang="en-US" sz="1400" baseline="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KNOW MORE ABOUT THE QUEERIES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1400" baseline="0" dirty="0">
              <a:solidFill>
                <a:srgbClr val="00B0F0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30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4567068-1AF3-4CF8-BF25-52682CF9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195" y="577205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35B20C-74C6-494A-8C77-E70A4B6C799C}"/>
              </a:ext>
            </a:extLst>
          </p:cNvPr>
          <p:cNvSpPr txBox="1">
            <a:spLocks/>
          </p:cNvSpPr>
          <p:nvPr/>
        </p:nvSpPr>
        <p:spPr>
          <a:xfrm>
            <a:off x="1494184" y="2592272"/>
            <a:ext cx="9601196" cy="3894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Dataset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2B880C-021A-44D4-A13C-40E39E03B091}"/>
              </a:ext>
            </a:extLst>
          </p:cNvPr>
          <p:cNvSpPr txBox="1">
            <a:spLocks/>
          </p:cNvSpPr>
          <p:nvPr/>
        </p:nvSpPr>
        <p:spPr>
          <a:xfrm>
            <a:off x="1494184" y="3429000"/>
            <a:ext cx="9601196" cy="282933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SET CONTAINS COLUMN SUCH AS 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, MONTH ,DAY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, ITEM NAME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SOLD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PRICE , UNIT PRICE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DISSCOUNT , TOTAL REVENEUE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MODE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DISSCOUNT APPLIED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 , REMARK.</a:t>
            </a: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BBB2-9729-4081-A74D-3A2E6AAC3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57" y="2361466"/>
            <a:ext cx="4627034" cy="1067534"/>
          </a:xfrm>
        </p:spPr>
        <p:txBody>
          <a:bodyPr/>
          <a:lstStyle/>
          <a:p>
            <a:r>
              <a:rPr lang="en-US" sz="4000" dirty="0"/>
              <a:t>Final Dashboard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F12781-C6C1-44FC-B6CB-D8BDF7B8919C}"/>
              </a:ext>
            </a:extLst>
          </p:cNvPr>
          <p:cNvSpPr txBox="1">
            <a:spLocks/>
          </p:cNvSpPr>
          <p:nvPr/>
        </p:nvSpPr>
        <p:spPr>
          <a:xfrm>
            <a:off x="2425148" y="3588027"/>
            <a:ext cx="7779025" cy="106753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/>
              <a:t>Lets See The </a:t>
            </a:r>
            <a:r>
              <a:rPr lang="en-US" sz="2000" b="1" u="sng" dirty="0">
                <a:solidFill>
                  <a:srgbClr val="00B0F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 Dashboard</a:t>
            </a:r>
            <a:r>
              <a:rPr lang="en-US" sz="2000" b="1" u="sng" dirty="0">
                <a:solidFill>
                  <a:schemeClr val="accent5">
                    <a:lumMod val="50000"/>
                  </a:schemeClr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800" dirty="0"/>
              <a:t>And Understand The Data More Clearly .  .</a:t>
            </a:r>
          </a:p>
        </p:txBody>
      </p:sp>
    </p:spTree>
    <p:extLst>
      <p:ext uri="{BB962C8B-B14F-4D97-AF65-F5344CB8AC3E}">
        <p14:creationId xmlns:p14="http://schemas.microsoft.com/office/powerpoint/2010/main" val="2427663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30A0-7342-493E-8594-272D277243E8}"/>
              </a:ext>
            </a:extLst>
          </p:cNvPr>
          <p:cNvSpPr txBox="1">
            <a:spLocks/>
          </p:cNvSpPr>
          <p:nvPr/>
        </p:nvSpPr>
        <p:spPr>
          <a:xfrm>
            <a:off x="809856" y="617854"/>
            <a:ext cx="8596668" cy="63610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u="sng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 / Future Plan </a:t>
            </a:r>
            <a:r>
              <a:rPr lang="en-US" sz="2400" dirty="0">
                <a:solidFill>
                  <a:schemeClr val="accent4"/>
                </a:solidFill>
              </a:rPr>
              <a:t>-</a:t>
            </a:r>
            <a:endParaRPr lang="en-US" sz="24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C27F-752D-44E4-8C5C-4FC8E1D24D4D}"/>
              </a:ext>
            </a:extLst>
          </p:cNvPr>
          <p:cNvSpPr txBox="1">
            <a:spLocks/>
          </p:cNvSpPr>
          <p:nvPr/>
        </p:nvSpPr>
        <p:spPr>
          <a:xfrm>
            <a:off x="923022" y="1253959"/>
            <a:ext cx="10341326" cy="498618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Increase Discounts &amp; Offers </a:t>
            </a:r>
            <a:r>
              <a:rPr lang="en-US" sz="1400" dirty="0"/>
              <a:t>:</a:t>
            </a:r>
            <a:r>
              <a:rPr lang="en-US" sz="1600" dirty="0"/>
              <a:t>Since discounts doubled sales and profit, plan </a:t>
            </a:r>
            <a:r>
              <a:rPr lang="en-US" sz="1600" b="1" dirty="0"/>
              <a:t>more offers</a:t>
            </a:r>
            <a:r>
              <a:rPr lang="en-US" sz="1600" dirty="0"/>
              <a:t> like </a:t>
            </a:r>
            <a:r>
              <a:rPr lang="en-US" sz="1600" i="1" dirty="0"/>
              <a:t>Buy 1 Get 1</a:t>
            </a:r>
            <a:r>
              <a:rPr lang="en-US" sz="1600" dirty="0"/>
              <a:t> or </a:t>
            </a:r>
            <a:r>
              <a:rPr lang="en-US" sz="1600" i="1" dirty="0"/>
              <a:t>Festive Deals                                      </a:t>
            </a:r>
            <a:r>
              <a:rPr lang="en-US" sz="1600" dirty="0"/>
              <a:t>Use limited-time discounts to attract more customers regularly .</a:t>
            </a:r>
          </a:p>
          <a:p>
            <a:r>
              <a:rPr lang="en-US" sz="1600" b="1" dirty="0"/>
              <a:t>Focus on Low-Performing Months </a:t>
            </a:r>
            <a:r>
              <a:rPr lang="en-US" sz="1600" dirty="0"/>
              <a:t>: Revenue was lowest in </a:t>
            </a:r>
            <a:r>
              <a:rPr lang="en-US" sz="1600" b="1" dirty="0"/>
              <a:t>April and November</a:t>
            </a:r>
            <a:r>
              <a:rPr lang="en-US" sz="1600" dirty="0"/>
              <a:t>   launch </a:t>
            </a:r>
            <a:r>
              <a:rPr lang="en-US" sz="1600" b="1" dirty="0"/>
              <a:t>special campaigns or events</a:t>
            </a:r>
            <a:r>
              <a:rPr lang="en-US" sz="1600" dirty="0"/>
              <a:t> in these months. introduce </a:t>
            </a:r>
            <a:r>
              <a:rPr lang="en-US" sz="1600" b="1" dirty="0"/>
              <a:t>new menu items or combos</a:t>
            </a:r>
            <a:r>
              <a:rPr lang="en-US" sz="1600" dirty="0"/>
              <a:t> to boost sales during slow periods.</a:t>
            </a:r>
          </a:p>
          <a:p>
            <a:r>
              <a:rPr lang="en-US" sz="1600" b="1" dirty="0"/>
              <a:t>Improve Performance of Low-Revenue Branches</a:t>
            </a:r>
            <a:r>
              <a:rPr lang="en-US" sz="1400" dirty="0"/>
              <a:t>: </a:t>
            </a:r>
            <a:r>
              <a:rPr lang="en-US" sz="1600" b="1" dirty="0"/>
              <a:t>Branch 1 and 5</a:t>
            </a:r>
            <a:r>
              <a:rPr lang="en-US" sz="1600" dirty="0"/>
              <a:t> need attention.  Provide </a:t>
            </a:r>
            <a:r>
              <a:rPr lang="en-US" sz="1600" b="1" dirty="0"/>
              <a:t>local promotions</a:t>
            </a:r>
            <a:r>
              <a:rPr lang="en-US" sz="1600" dirty="0"/>
              <a:t>, better </a:t>
            </a:r>
            <a:r>
              <a:rPr lang="en-US" sz="1600" b="1" dirty="0"/>
              <a:t>staff training</a:t>
            </a:r>
            <a:r>
              <a:rPr lang="en-US" sz="1600" dirty="0"/>
              <a:t>, or </a:t>
            </a:r>
            <a:r>
              <a:rPr lang="en-US" sz="1600" b="1" dirty="0"/>
              <a:t>advertising</a:t>
            </a:r>
            <a:r>
              <a:rPr lang="en-US" sz="1600" dirty="0"/>
              <a:t> to increase their sales.</a:t>
            </a:r>
          </a:p>
          <a:p>
            <a:r>
              <a:rPr lang="en-US" sz="1600" b="1" dirty="0"/>
              <a:t>Expand Best-Selling Categories </a:t>
            </a:r>
            <a:r>
              <a:rPr lang="en-US" sz="1400" dirty="0"/>
              <a:t>: </a:t>
            </a:r>
            <a:r>
              <a:rPr lang="en-US" sz="1600" b="1" dirty="0"/>
              <a:t>Desserts and Tea</a:t>
            </a:r>
            <a:r>
              <a:rPr lang="en-US" sz="1600" dirty="0"/>
              <a:t> performed the best. Add </a:t>
            </a:r>
            <a:r>
              <a:rPr lang="en-US" sz="1600" b="1" dirty="0"/>
              <a:t>new dessert varieties or premium tea options</a:t>
            </a:r>
            <a:r>
              <a:rPr lang="en-US" sz="1600" dirty="0"/>
              <a:t> to attract more customers.</a:t>
            </a:r>
          </a:p>
          <a:p>
            <a:r>
              <a:rPr lang="en-US" sz="1600" b="1" dirty="0"/>
              <a:t>Boost Low-Performing Categories </a:t>
            </a:r>
            <a:r>
              <a:rPr lang="en-US" sz="1400" dirty="0"/>
              <a:t>: </a:t>
            </a:r>
            <a:r>
              <a:rPr lang="en-US" sz="1600" b="1" dirty="0"/>
              <a:t>Coffee and Snacks</a:t>
            </a:r>
            <a:r>
              <a:rPr lang="en-US" sz="1600" dirty="0"/>
              <a:t> had lower profits — review prices, ingredients, or presentation. Try </a:t>
            </a:r>
            <a:r>
              <a:rPr lang="en-US" sz="1600" b="1" dirty="0"/>
              <a:t>combo offers</a:t>
            </a:r>
            <a:r>
              <a:rPr lang="en-US" sz="1600" dirty="0"/>
              <a:t> (e.g., coffee + donut) to increase sales.</a:t>
            </a:r>
            <a:endParaRPr lang="en-US" sz="1200" dirty="0"/>
          </a:p>
          <a:p>
            <a:r>
              <a:rPr lang="en-US" sz="1600" b="1" dirty="0"/>
              <a:t>Reward Top Customers </a:t>
            </a:r>
            <a:r>
              <a:rPr lang="en-US" sz="1400" dirty="0"/>
              <a:t>:</a:t>
            </a:r>
            <a:r>
              <a:rPr lang="en-US" sz="1600" dirty="0"/>
              <a:t>Give </a:t>
            </a:r>
            <a:r>
              <a:rPr lang="en-US" sz="1600" b="1" dirty="0"/>
              <a:t>loyalty points, coupons, or free add-ons</a:t>
            </a:r>
            <a:r>
              <a:rPr lang="en-US" sz="1600" dirty="0"/>
              <a:t> to top 5 customers to maintain loyalty. Start a </a:t>
            </a:r>
            <a:r>
              <a:rPr lang="en-US" sz="1600" b="1" dirty="0"/>
              <a:t>loyalty program</a:t>
            </a:r>
            <a:r>
              <a:rPr lang="en-US" sz="1600" dirty="0"/>
              <a:t> for regular buyers.</a:t>
            </a:r>
            <a:endParaRPr lang="en-US" sz="1200" dirty="0"/>
          </a:p>
          <a:p>
            <a:r>
              <a:rPr lang="en-US" sz="1400" b="1" dirty="0"/>
              <a:t>Encourage Digital Payments </a:t>
            </a:r>
            <a:r>
              <a:rPr lang="en-US" sz="1200" dirty="0"/>
              <a:t>: </a:t>
            </a:r>
            <a:r>
              <a:rPr lang="en-US" sz="1600" dirty="0"/>
              <a:t>Since many use cash, promote </a:t>
            </a:r>
            <a:r>
              <a:rPr lang="en-US" sz="1600" b="1" dirty="0"/>
              <a:t>UPI and Card payments</a:t>
            </a:r>
            <a:r>
              <a:rPr lang="en-US" sz="1600" dirty="0"/>
              <a:t> with small cashback or discounts to speed up billing.</a:t>
            </a:r>
            <a:endParaRPr lang="en-US" sz="1200" dirty="0"/>
          </a:p>
          <a:p>
            <a:r>
              <a:rPr lang="en-US" sz="1400" b="1" dirty="0"/>
              <a:t>Promote Midweek Offers </a:t>
            </a:r>
            <a:r>
              <a:rPr lang="en-US" sz="1200" dirty="0"/>
              <a:t>: </a:t>
            </a:r>
            <a:r>
              <a:rPr lang="en-US" sz="1600" dirty="0"/>
              <a:t>Tue &amp; Wed already perform well — use </a:t>
            </a:r>
            <a:r>
              <a:rPr lang="en-US" sz="1600" b="1" dirty="0"/>
              <a:t>“Midweek Special Offers”</a:t>
            </a:r>
            <a:r>
              <a:rPr lang="en-US" sz="1600" dirty="0"/>
              <a:t> to attract even more customers</a:t>
            </a:r>
            <a:r>
              <a:rPr lang="en-US" sz="1200" dirty="0"/>
              <a:t>.</a:t>
            </a:r>
          </a:p>
          <a:p>
            <a:r>
              <a:rPr lang="en-US" sz="1400" b="1" dirty="0"/>
              <a:t>Optimize Branch Profit Ratios </a:t>
            </a:r>
            <a:r>
              <a:rPr lang="en-US" sz="1200" dirty="0"/>
              <a:t>: </a:t>
            </a:r>
            <a:r>
              <a:rPr lang="en-US" sz="1600" dirty="0"/>
              <a:t>Study what makes </a:t>
            </a:r>
            <a:r>
              <a:rPr lang="en-US" sz="1600" b="1" dirty="0"/>
              <a:t>Branch 4, 6, and 7</a:t>
            </a:r>
            <a:r>
              <a:rPr lang="en-US" sz="1600" dirty="0"/>
              <a:t> more profitable and apply those methods in other branches</a:t>
            </a:r>
            <a:r>
              <a:rPr lang="en-US" sz="1400" dirty="0"/>
              <a:t>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7696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56BB-A9E7-4B2F-8243-137BA616BC6E}"/>
              </a:ext>
            </a:extLst>
          </p:cNvPr>
          <p:cNvSpPr txBox="1">
            <a:spLocks/>
          </p:cNvSpPr>
          <p:nvPr/>
        </p:nvSpPr>
        <p:spPr>
          <a:xfrm>
            <a:off x="264768" y="2081006"/>
            <a:ext cx="10515600" cy="10069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DEE28-F988-478B-B718-E20D3CE76CAD}"/>
              </a:ext>
            </a:extLst>
          </p:cNvPr>
          <p:cNvSpPr txBox="1">
            <a:spLocks/>
          </p:cNvSpPr>
          <p:nvPr/>
        </p:nvSpPr>
        <p:spPr>
          <a:xfrm>
            <a:off x="1080328" y="3266557"/>
            <a:ext cx="9541564" cy="100695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 </a:t>
            </a:r>
            <a:r>
              <a:rPr lang="en-US" sz="2000" b="1" dirty="0"/>
              <a:t>Thank You For Giving Me You Time . Have A Great Time.</a:t>
            </a:r>
          </a:p>
        </p:txBody>
      </p:sp>
    </p:spTree>
    <p:extLst>
      <p:ext uri="{BB962C8B-B14F-4D97-AF65-F5344CB8AC3E}">
        <p14:creationId xmlns:p14="http://schemas.microsoft.com/office/powerpoint/2010/main" val="3553673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443</TotalTime>
  <Words>595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Garamond</vt:lpstr>
      <vt:lpstr>Times New Roman</vt:lpstr>
      <vt:lpstr>Wingdings 3</vt:lpstr>
      <vt:lpstr>Organic</vt:lpstr>
      <vt:lpstr>HELLO THERE !!!</vt:lpstr>
      <vt:lpstr>Project Introduction </vt:lpstr>
      <vt:lpstr>Project Agenda</vt:lpstr>
      <vt:lpstr>Dataset Overview</vt:lpstr>
      <vt:lpstr>Final 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Points To add In The PPT –</dc:title>
  <dc:creator>SUPER-COMPUTERS</dc:creator>
  <cp:lastModifiedBy>SUPER-COMPUTERS</cp:lastModifiedBy>
  <cp:revision>33</cp:revision>
  <dcterms:created xsi:type="dcterms:W3CDTF">2025-11-04T06:30:16Z</dcterms:created>
  <dcterms:modified xsi:type="dcterms:W3CDTF">2025-11-08T14:07:19Z</dcterms:modified>
</cp:coreProperties>
</file>